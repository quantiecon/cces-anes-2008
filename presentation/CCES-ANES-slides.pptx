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article and the four speakers. One sentence: we are asking whether YouGov’s matched volunteer survey gives the same 2008 vote results as the face-to-face ANES.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questions were not assigned to a named person. Whoever opens should take both, then hand to Abdullah. Do not spend more than a minute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puzzle is a design puzzle, not a puzzle about why Obama won. Volunteers online versus a random sample at the door. The 2008 vote is the test, because we can check it against the ANES and against the certified count. Say the question once, slowly, then sit down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stakes: scale, the decline of the old surveys, and the cost of being wrong. Mention, briefly, that Rivers coauthored the paper and was chief scientist of the firm that fielded the survey. That is why checking him against the ANES matters. Then hand to Abdullah.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in plain language. Once we know the matching characteristics, the fact that someone joined an internet panel should not predict how they voted. Then name ignorability. Stress the failure condition: a reason for joining the panel that is also a reason for supporting a candidate, and that is not captured by those variables, survives the whole procedure.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Vote is coded plus one Obama, minus one McCain, zero for anyone else. Party runs from 1, strong Democrat, to 7, strong Republican. A slope near minus 0.31 is the number to remember. Close by saying the hypothesis is silent about the unmatched panel. Hand to Amelie.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comparison before the machinery. Two ways of choosing people, one equation. The ANES weight is V080102. The CCES weight is V201. Both are scaled so the average weight is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row is a description, not someone YouGov can email. Age, race, gender, education, and the rest. The search finds a real panelist who fits. Say that the raw panel is too white, too old, and too educated, and that matching is what throws the surplus people 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 10 is the slide. Race dominates, so the nearest panelist is almost always the same race. Be clear that an attitude unrelated to these factors is not balanced. And be clear that this function is YouGov’s, run before we ever see the file.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outputs a probability. That probability is the propensity score. Deciles are forced to 10 percent each, then gender, race, education, and age are raked to the frame. The rescaling is for interpretation. It does not move the results. Hand to Eric.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covariate in one sentence and move on. The shared list exists because of what the ANES download contains, not because those other variables are unimportant. The full list is estimated on the CCES alone.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leave up. Read the two −0.317 figures and stop. Then say the published table was −0.313 and −0.312, so the replication landed on the article’s result. The standard errors tell the audience not to over-read a difference of a few hundredths on the ANES side.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coefficient. Age is close. The Black gap is large in both and larger in the ANES. Hispanic is where they differ. Then the weight sentence: matching did the work on the CCES; the weight column barely moves the slope. Race questions also differ. CCES puts Hispanic in the race item. ANES asks race and Latino status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shares from regression coefficients. A share is a weighted percentage. The Hispanic contrast is the article’s own point: the CCES landed on the exit poll and the ANES did not. On states, own the discrepancy. We support the claim that error is a few points. We do not reproduce their exact 0.27 and 2.43.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use this slide if there is time. The issue result is the one worth saying: a large part of the party effect is shared ideology and issue position. Label it as our addition so it is not attributed to Ansolabehere and Rivers. Hand to Rahel.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authors their sentence before our caveats. The conclusion is practical: cooperation plus matching is good enough for electoral research that needs a large N. Do not soften it into 'more research is needed' before you have stated what they actually concluded.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limits, in this order: ignorability, the author’s stake in YouGov, and our softer state replication. Then the last line: the file we analyzed had already been matched. End there and go to the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and the −0.32 line. Stop. Take questions. If asked what failed: the state RMSE, 3.4 against their 2.43. If asked whether the raw panel is representative: no, the matched sample is the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2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058400" cy="274320"/>
          </a:xfrm>
          <a:prstGeom prst="rect">
            <a:avLst/>
          </a:prstGeom>
          <a:noFill/>
        </p:spPr>
        <p:txBody>
          <a:bodyPr wrap="square" lIns="0" rIns="0" tIns="0" bIns="0" anchor="t"/>
          <a:lstStyle/>
          <a:p>
            <a:pPr algn="l">
              <a:spcBef>
                <a:spcPts val="0"/>
              </a:spcBef>
              <a:spcAft>
                <a:spcPts val="0"/>
              </a:spcAft>
            </a:pPr>
            <a:r>
              <a:rPr sz="1400" b="1" i="0">
                <a:solidFill>
                  <a:srgbClr val="5E6872"/>
                </a:solidFill>
                <a:latin typeface="Calibri"/>
              </a:rPr>
              <a:t>GROUP PRESENTATION</a:t>
            </a:r>
          </a:p>
        </p:txBody>
      </p:sp>
      <p:sp>
        <p:nvSpPr>
          <p:cNvPr id="5" name="TextBox 4"/>
          <p:cNvSpPr txBox="1"/>
          <p:nvPr/>
        </p:nvSpPr>
        <p:spPr>
          <a:xfrm>
            <a:off x="640080" y="1645920"/>
            <a:ext cx="10972800" cy="731520"/>
          </a:xfrm>
          <a:prstGeom prst="rect">
            <a:avLst/>
          </a:prstGeom>
          <a:noFill/>
        </p:spPr>
        <p:txBody>
          <a:bodyPr wrap="square" lIns="0" rIns="0" tIns="0" bIns="0" anchor="t"/>
          <a:lstStyle/>
          <a:p>
            <a:pPr algn="l">
              <a:spcBef>
                <a:spcPts val="0"/>
              </a:spcBef>
              <a:spcAft>
                <a:spcPts val="0"/>
              </a:spcAft>
            </a:pPr>
            <a:r>
              <a:rPr sz="4400" b="1" i="0">
                <a:solidFill>
                  <a:srgbClr val="1A222C"/>
                </a:solidFill>
                <a:latin typeface="Georgia"/>
              </a:rPr>
              <a:t>Cooperative Survey Research</a:t>
            </a:r>
          </a:p>
        </p:txBody>
      </p:sp>
      <p:sp>
        <p:nvSpPr>
          <p:cNvPr id="6" name="TextBox 5"/>
          <p:cNvSpPr txBox="1"/>
          <p:nvPr/>
        </p:nvSpPr>
        <p:spPr>
          <a:xfrm>
            <a:off x="640080" y="2468880"/>
            <a:ext cx="10515600" cy="457200"/>
          </a:xfrm>
          <a:prstGeom prst="rect">
            <a:avLst/>
          </a:prstGeom>
          <a:noFill/>
        </p:spPr>
        <p:txBody>
          <a:bodyPr wrap="square" lIns="0" rIns="0" tIns="0" bIns="0" anchor="t"/>
          <a:lstStyle/>
          <a:p>
            <a:pPr algn="l">
              <a:spcBef>
                <a:spcPts val="0"/>
              </a:spcBef>
              <a:spcAft>
                <a:spcPts val="0"/>
              </a:spcAft>
            </a:pPr>
            <a:r>
              <a:rPr sz="2400" b="0" i="0">
                <a:solidFill>
                  <a:srgbClr val="1E4D5C"/>
                </a:solidFill>
                <a:latin typeface="Calibri"/>
              </a:rPr>
              <a:t>Can a matched internet sample stand in for the ANES?</a:t>
            </a:r>
          </a:p>
        </p:txBody>
      </p:sp>
      <p:sp>
        <p:nvSpPr>
          <p:cNvPr id="7" name="TextBox 6"/>
          <p:cNvSpPr txBox="1"/>
          <p:nvPr/>
        </p:nvSpPr>
        <p:spPr>
          <a:xfrm>
            <a:off x="640080" y="3200400"/>
            <a:ext cx="10058400" cy="731520"/>
          </a:xfrm>
          <a:prstGeom prst="rect">
            <a:avLst/>
          </a:prstGeom>
          <a:noFill/>
        </p:spPr>
        <p:txBody>
          <a:bodyPr wrap="square" lIns="0" rIns="0" tIns="0" bIns="0" anchor="t"/>
          <a:lstStyle/>
          <a:p>
            <a:pPr algn="l">
              <a:spcBef>
                <a:spcPts val="0"/>
              </a:spcBef>
              <a:spcAft>
                <a:spcPts val="0"/>
              </a:spcAft>
            </a:pPr>
            <a:r>
              <a:rPr sz="1800" b="0" i="0">
                <a:solidFill>
                  <a:srgbClr val="5E6872"/>
                </a:solidFill>
                <a:latin typeface="Calibri"/>
              </a:rPr>
              <a:t>Ansolabehere &amp; Rivers, Annual Review of Political Science, 2013
Replication of the 2008 presidential vote comparison</a:t>
            </a:r>
          </a:p>
        </p:txBody>
      </p:sp>
      <p:sp>
        <p:nvSpPr>
          <p:cNvPr id="8" name="TextBox 7"/>
          <p:cNvSpPr txBox="1"/>
          <p:nvPr/>
        </p:nvSpPr>
        <p:spPr>
          <a:xfrm>
            <a:off x="640080" y="4709160"/>
            <a:ext cx="9144000" cy="731520"/>
          </a:xfrm>
          <a:prstGeom prst="rect">
            <a:avLst/>
          </a:prstGeom>
          <a:noFill/>
        </p:spPr>
        <p:txBody>
          <a:bodyPr wrap="square" lIns="0" rIns="0" tIns="0" bIns="0" anchor="t"/>
          <a:lstStyle/>
          <a:p>
            <a:pPr algn="l">
              <a:spcBef>
                <a:spcPts val="0"/>
              </a:spcBef>
              <a:spcAft>
                <a:spcPts val="0"/>
              </a:spcAft>
            </a:pPr>
            <a:r>
              <a:rPr sz="1800" b="0" i="0">
                <a:solidFill>
                  <a:srgbClr val="1A222C"/>
                </a:solidFill>
                <a:latin typeface="Calibri"/>
              </a:rPr>
              <a:t>Abdullah  ·  Hypothesis          Amelie  ·  Method
Eric  ·  Data                         Rahel  ·  Conclusion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A2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7315200" cy="274320"/>
          </a:xfrm>
          <a:prstGeom prst="rect">
            <a:avLst/>
          </a:prstGeom>
          <a:noFill/>
        </p:spPr>
        <p:txBody>
          <a:bodyPr wrap="square" lIns="0" rIns="0" tIns="0" bIns="0" anchor="t"/>
          <a:lstStyle/>
          <a:p>
            <a:pPr algn="l">
              <a:spcBef>
                <a:spcPts val="0"/>
              </a:spcBef>
              <a:spcAft>
                <a:spcPts val="0"/>
              </a:spcAft>
            </a:pPr>
            <a:r>
              <a:rPr sz="1300" b="1" i="0">
                <a:solidFill>
                  <a:srgbClr val="5E6872"/>
                </a:solidFill>
                <a:latin typeface="Calibri"/>
              </a:rPr>
              <a:t>ORDER OF THE TALK</a:t>
            </a:r>
          </a:p>
        </p:txBody>
      </p:sp>
      <p:sp>
        <p:nvSpPr>
          <p:cNvPr id="5" name="TextBox 4"/>
          <p:cNvSpPr txBox="1"/>
          <p:nvPr/>
        </p:nvSpPr>
        <p:spPr>
          <a:xfrm>
            <a:off x="502920" y="685800"/>
            <a:ext cx="10972800" cy="640080"/>
          </a:xfrm>
          <a:prstGeom prst="rect">
            <a:avLst/>
          </a:prstGeom>
          <a:noFill/>
        </p:spPr>
        <p:txBody>
          <a:bodyPr wrap="square" lIns="0" rIns="0" tIns="0" bIns="0" anchor="t"/>
          <a:lstStyle/>
          <a:p>
            <a:pPr algn="l">
              <a:spcBef>
                <a:spcPts val="0"/>
              </a:spcBef>
              <a:spcAft>
                <a:spcPts val="0"/>
              </a:spcAft>
            </a:pPr>
            <a:r>
              <a:rPr sz="3400" b="1" i="0">
                <a:solidFill>
                  <a:srgbClr val="1A222C"/>
                </a:solidFill>
                <a:latin typeface="Georgia"/>
              </a:rPr>
              <a:t>Six questions, four speakers</a:t>
            </a:r>
          </a:p>
        </p:txBody>
      </p:sp>
      <p:sp>
        <p:nvSpPr>
          <p:cNvPr id="6" name="Rectangle 5"/>
          <p:cNvSpPr/>
          <p:nvPr/>
        </p:nvSpPr>
        <p:spPr>
          <a:xfrm>
            <a:off x="502920" y="1691640"/>
            <a:ext cx="2194560" cy="658368"/>
          </a:xfrm>
          <a:prstGeom prst="rect">
            <a:avLst/>
          </a:prstGeom>
          <a:solidFill>
            <a:srgbClr val="6E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37944"/>
            <a:ext cx="1920240" cy="384048"/>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Opening</a:t>
            </a:r>
          </a:p>
        </p:txBody>
      </p:sp>
      <p:sp>
        <p:nvSpPr>
          <p:cNvPr id="8" name="TextBox 7"/>
          <p:cNvSpPr txBox="1"/>
          <p:nvPr/>
        </p:nvSpPr>
        <p:spPr>
          <a:xfrm>
            <a:off x="2926080" y="1837944"/>
            <a:ext cx="8229600" cy="384048"/>
          </a:xfrm>
          <a:prstGeom prst="rect">
            <a:avLst/>
          </a:prstGeom>
          <a:noFill/>
        </p:spPr>
        <p:txBody>
          <a:bodyPr wrap="square" lIns="0" rIns="0" tIns="0" bIns="0" anchor="t"/>
          <a:lstStyle/>
          <a:p>
            <a:pPr algn="l">
              <a:spcBef>
                <a:spcPts val="0"/>
              </a:spcBef>
              <a:spcAft>
                <a:spcPts val="0"/>
              </a:spcAft>
            </a:pPr>
            <a:r>
              <a:rPr sz="2200" b="0" i="0">
                <a:solidFill>
                  <a:srgbClr val="1A222C"/>
                </a:solidFill>
                <a:latin typeface="Calibri"/>
              </a:rPr>
              <a:t>Research question, and why it matters</a:t>
            </a:r>
          </a:p>
        </p:txBody>
      </p:sp>
      <p:sp>
        <p:nvSpPr>
          <p:cNvPr id="9" name="Rectangle 8"/>
          <p:cNvSpPr/>
          <p:nvPr/>
        </p:nvSpPr>
        <p:spPr>
          <a:xfrm>
            <a:off x="502920" y="2532888"/>
            <a:ext cx="2194560" cy="658368"/>
          </a:xfrm>
          <a:prstGeom prst="rect">
            <a:avLst/>
          </a:prstGeom>
          <a:solidFill>
            <a:srgbClr val="1E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79192"/>
            <a:ext cx="1920240" cy="384048"/>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Abdullah</a:t>
            </a:r>
          </a:p>
        </p:txBody>
      </p:sp>
      <p:sp>
        <p:nvSpPr>
          <p:cNvPr id="11" name="TextBox 10"/>
          <p:cNvSpPr txBox="1"/>
          <p:nvPr/>
        </p:nvSpPr>
        <p:spPr>
          <a:xfrm>
            <a:off x="2926080" y="2679192"/>
            <a:ext cx="8229600" cy="384048"/>
          </a:xfrm>
          <a:prstGeom prst="rect">
            <a:avLst/>
          </a:prstGeom>
          <a:noFill/>
        </p:spPr>
        <p:txBody>
          <a:bodyPr wrap="square" lIns="0" rIns="0" tIns="0" bIns="0" anchor="t"/>
          <a:lstStyle/>
          <a:p>
            <a:pPr algn="l">
              <a:spcBef>
                <a:spcPts val="0"/>
              </a:spcBef>
              <a:spcAft>
                <a:spcPts val="0"/>
              </a:spcAft>
            </a:pPr>
            <a:r>
              <a:rPr sz="2200" b="0" i="0">
                <a:solidFill>
                  <a:srgbClr val="1A222C"/>
                </a:solidFill>
                <a:latin typeface="Calibri"/>
              </a:rPr>
              <a:t>Hypothesis</a:t>
            </a:r>
          </a:p>
        </p:txBody>
      </p:sp>
      <p:sp>
        <p:nvSpPr>
          <p:cNvPr id="12" name="Rectangle 11"/>
          <p:cNvSpPr/>
          <p:nvPr/>
        </p:nvSpPr>
        <p:spPr>
          <a:xfrm>
            <a:off x="502920" y="3374136"/>
            <a:ext cx="2194560" cy="658368"/>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520440"/>
            <a:ext cx="1920240" cy="384048"/>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Amelie</a:t>
            </a:r>
          </a:p>
        </p:txBody>
      </p:sp>
      <p:sp>
        <p:nvSpPr>
          <p:cNvPr id="14" name="TextBox 13"/>
          <p:cNvSpPr txBox="1"/>
          <p:nvPr/>
        </p:nvSpPr>
        <p:spPr>
          <a:xfrm>
            <a:off x="2926080" y="3520440"/>
            <a:ext cx="8229600" cy="384048"/>
          </a:xfrm>
          <a:prstGeom prst="rect">
            <a:avLst/>
          </a:prstGeom>
          <a:noFill/>
        </p:spPr>
        <p:txBody>
          <a:bodyPr wrap="square" lIns="0" rIns="0" tIns="0" bIns="0" anchor="t"/>
          <a:lstStyle/>
          <a:p>
            <a:pPr algn="l">
              <a:spcBef>
                <a:spcPts val="0"/>
              </a:spcBef>
              <a:spcAft>
                <a:spcPts val="0"/>
              </a:spcAft>
            </a:pPr>
            <a:r>
              <a:rPr sz="2200" b="0" i="0">
                <a:solidFill>
                  <a:srgbClr val="1A222C"/>
                </a:solidFill>
                <a:latin typeface="Calibri"/>
              </a:rPr>
              <a:t>Method</a:t>
            </a:r>
          </a:p>
        </p:txBody>
      </p:sp>
      <p:sp>
        <p:nvSpPr>
          <p:cNvPr id="15" name="Rectangle 14"/>
          <p:cNvSpPr/>
          <p:nvPr/>
        </p:nvSpPr>
        <p:spPr>
          <a:xfrm>
            <a:off x="502920" y="4215384"/>
            <a:ext cx="2194560" cy="658368"/>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361688"/>
            <a:ext cx="1920240" cy="384048"/>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Eric</a:t>
            </a:r>
          </a:p>
        </p:txBody>
      </p:sp>
      <p:sp>
        <p:nvSpPr>
          <p:cNvPr id="17" name="TextBox 16"/>
          <p:cNvSpPr txBox="1"/>
          <p:nvPr/>
        </p:nvSpPr>
        <p:spPr>
          <a:xfrm>
            <a:off x="2926080" y="4361688"/>
            <a:ext cx="8229600" cy="384048"/>
          </a:xfrm>
          <a:prstGeom prst="rect">
            <a:avLst/>
          </a:prstGeom>
          <a:noFill/>
        </p:spPr>
        <p:txBody>
          <a:bodyPr wrap="square" lIns="0" rIns="0" tIns="0" bIns="0" anchor="t"/>
          <a:lstStyle/>
          <a:p>
            <a:pPr algn="l">
              <a:spcBef>
                <a:spcPts val="0"/>
              </a:spcBef>
              <a:spcAft>
                <a:spcPts val="0"/>
              </a:spcAft>
            </a:pPr>
            <a:r>
              <a:rPr sz="2200" b="0" i="0">
                <a:solidFill>
                  <a:srgbClr val="1A222C"/>
                </a:solidFill>
                <a:latin typeface="Calibri"/>
              </a:rPr>
              <a:t>What the data reveal</a:t>
            </a:r>
          </a:p>
        </p:txBody>
      </p:sp>
      <p:sp>
        <p:nvSpPr>
          <p:cNvPr id="18" name="Rectangle 17"/>
          <p:cNvSpPr/>
          <p:nvPr/>
        </p:nvSpPr>
        <p:spPr>
          <a:xfrm>
            <a:off x="502920" y="5056632"/>
            <a:ext cx="2194560" cy="658368"/>
          </a:xfrm>
          <a:prstGeom prst="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02936"/>
            <a:ext cx="1920240" cy="384048"/>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Rahel</a:t>
            </a:r>
          </a:p>
        </p:txBody>
      </p:sp>
      <p:sp>
        <p:nvSpPr>
          <p:cNvPr id="20" name="TextBox 19"/>
          <p:cNvSpPr txBox="1"/>
          <p:nvPr/>
        </p:nvSpPr>
        <p:spPr>
          <a:xfrm>
            <a:off x="2926080" y="5202936"/>
            <a:ext cx="8229600" cy="384048"/>
          </a:xfrm>
          <a:prstGeom prst="rect">
            <a:avLst/>
          </a:prstGeom>
          <a:noFill/>
        </p:spPr>
        <p:txBody>
          <a:bodyPr wrap="square" lIns="0" rIns="0" tIns="0" bIns="0" anchor="t"/>
          <a:lstStyle/>
          <a:p>
            <a:pPr algn="l">
              <a:spcBef>
                <a:spcPts val="0"/>
              </a:spcBef>
              <a:spcAft>
                <a:spcPts val="0"/>
              </a:spcAft>
            </a:pPr>
            <a:r>
              <a:rPr sz="2200" b="0" i="0">
                <a:solidFill>
                  <a:srgbClr val="1A222C"/>
                </a:solidFill>
                <a:latin typeface="Calibri"/>
              </a:rPr>
              <a:t>The article’s conclusion</a:t>
            </a:r>
          </a:p>
        </p:txBody>
      </p:sp>
      <p:sp>
        <p:nvSpPr>
          <p:cNvPr id="21" name="TextBox 20"/>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22" name="TextBox 21"/>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6E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6E604E"/>
                </a:solidFill>
                <a:latin typeface="Calibri"/>
              </a:rPr>
              <a:t>QUESTION 1  ·  OPENING</a:t>
            </a:r>
          </a:p>
        </p:txBody>
      </p:sp>
      <p:sp>
        <p:nvSpPr>
          <p:cNvPr id="5" name="Rounded Rectangle 4"/>
          <p:cNvSpPr/>
          <p:nvPr/>
        </p:nvSpPr>
        <p:spPr>
          <a:xfrm>
            <a:off x="9646920" y="292608"/>
            <a:ext cx="2057400" cy="347472"/>
          </a:xfrm>
          <a:prstGeom prst="roundRect">
            <a:avLst/>
          </a:prstGeom>
          <a:solidFill>
            <a:srgbClr val="6E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OPENING</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What is the research question?</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Internet surveys are large and cheap. The respondents are volunteers, not a random sample.</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ANES is the benchmark: an interviewer visits a probability sample at home. It is small.</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After matching and weighting, does the CCES recover the same party–vote relationship as the ANES?</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And does it recover the same presidential margins as the official returns?</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6E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6E604E"/>
                </a:solidFill>
                <a:latin typeface="Calibri"/>
              </a:rPr>
              <a:t>QUESTION 2  ·  OPENING</a:t>
            </a:r>
          </a:p>
        </p:txBody>
      </p:sp>
      <p:sp>
        <p:nvSpPr>
          <p:cNvPr id="5" name="Rounded Rectangle 4"/>
          <p:cNvSpPr/>
          <p:nvPr/>
        </p:nvSpPr>
        <p:spPr>
          <a:xfrm>
            <a:off x="9646920" y="292608"/>
            <a:ext cx="2057400" cy="347472"/>
          </a:xfrm>
          <a:prstGeom prst="roundRect">
            <a:avLst/>
          </a:prstGeom>
          <a:solidFill>
            <a:srgbClr val="6E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OPENING</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Why does the answer matter?</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 2,000-person national sample cannot describe a state, a House district, or a small group.</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2008 CCES common sample is 32,800 interviews, shared by many research teams.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Face-to-face response rates were already falling. The field needed a tested alternative.</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If the matched sample is biased, a large body of election research describes the panel, not the voters.</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E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1E4D5C"/>
                </a:solidFill>
                <a:latin typeface="Calibri"/>
              </a:rPr>
              <a:t>QUESTION 3  ·  ABDULLAH</a:t>
            </a:r>
          </a:p>
        </p:txBody>
      </p:sp>
      <p:sp>
        <p:nvSpPr>
          <p:cNvPr id="5" name="Rounded Rectangle 4"/>
          <p:cNvSpPr/>
          <p:nvPr/>
        </p:nvSpPr>
        <p:spPr>
          <a:xfrm>
            <a:off x="9646920" y="292608"/>
            <a:ext cx="2057400" cy="347472"/>
          </a:xfrm>
          <a:prstGeom prst="roundRect">
            <a:avLst/>
          </a:prstGeom>
          <a:solidFill>
            <a:srgbClr val="1E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ABDULLAH</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The hypothesis</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Volunteers differ from the country. The claim is that those differences sit in observable traits.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Age, race, gender, education, party, registration, religion, and news interest carry the selection.</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Given those traits, volunteering itself should tell us nothing more about the vote.</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That assumption is called ignorability. If it fails, matching leaves the bias in the data.</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E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1E4D5C"/>
                </a:solidFill>
                <a:latin typeface="Calibri"/>
              </a:rPr>
              <a:t>QUESTION 3  ·  ABDULLAH</a:t>
            </a:r>
          </a:p>
        </p:txBody>
      </p:sp>
      <p:sp>
        <p:nvSpPr>
          <p:cNvPr id="5" name="Rounded Rectangle 4"/>
          <p:cNvSpPr/>
          <p:nvPr/>
        </p:nvSpPr>
        <p:spPr>
          <a:xfrm>
            <a:off x="9646920" y="292608"/>
            <a:ext cx="2057400" cy="347472"/>
          </a:xfrm>
          <a:prstGeom prst="roundRect">
            <a:avLst/>
          </a:prstGeom>
          <a:solidFill>
            <a:srgbClr val="1E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ABDULLAH</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What would count as support</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party slope in the CCES should match the party slope in the ANES.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Published figures: −0.313 in the CCES and −0.312 in the ANES.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One step toward Republican moves the vote score about a third of the way from Obama toward McCain.</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State errors should be a few points, not ten. Group shares should track the exit poll.</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prediction is about the matched, weighted sample, not the raw list of volunteers.</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2F553A"/>
                </a:solidFill>
                <a:latin typeface="Calibri"/>
              </a:rPr>
              <a:t>QUESTION 4  ·  AMELIE</a:t>
            </a:r>
          </a:p>
        </p:txBody>
      </p:sp>
      <p:sp>
        <p:nvSpPr>
          <p:cNvPr id="5" name="Rounded Rectangle 4"/>
          <p:cNvSpPr/>
          <p:nvPr/>
        </p:nvSpPr>
        <p:spPr>
          <a:xfrm>
            <a:off x="9646920" y="292608"/>
            <a:ext cx="2057400" cy="347472"/>
          </a:xfrm>
          <a:prstGeom prst="round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AMELIE</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Two samples, one equation</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CCES: YouGov volunteers, matched to a Census-like target, then weighted. 32,800 kept interviews.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ANES: face-to-face probability sample. About 2,100 post-election interviews.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Same outcome in both: Obama = +1, McCain = −1, another candidate = 0.</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Same regression of that vote on party and demographics. Then CCES state shares versus the official vote.</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2F553A"/>
                </a:solidFill>
                <a:latin typeface="Calibri"/>
              </a:rPr>
              <a:t>QUESTION 4  ·  AMELIE</a:t>
            </a:r>
          </a:p>
        </p:txBody>
      </p:sp>
      <p:sp>
        <p:nvSpPr>
          <p:cNvPr id="5" name="Rounded Rectangle 4"/>
          <p:cNvSpPr/>
          <p:nvPr/>
        </p:nvSpPr>
        <p:spPr>
          <a:xfrm>
            <a:off x="9646920" y="292608"/>
            <a:ext cx="2057400" cy="347472"/>
          </a:xfrm>
          <a:prstGeom prst="round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AMELIE</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How YouGov builds the CCES sample</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1.  Build a target from the 2006 American Community Survey, plus CPS registration and Pew religion and party.</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2.  Interview about 50,800 panelists from PollingPoint, E-Rewards, and Western Wats.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3.  Keep the completed interview closest to each target description.</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4.  Weight the matched cases, cut extreme weights, and rescale so the average weight is 1.</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2F553A"/>
                </a:solidFill>
                <a:latin typeface="Calibri"/>
              </a:rPr>
              <a:t>QUESTION 4  ·  AMELIE</a:t>
            </a:r>
          </a:p>
        </p:txBody>
      </p:sp>
      <p:sp>
        <p:nvSpPr>
          <p:cNvPr id="5" name="Rounded Rectangle 4"/>
          <p:cNvSpPr/>
          <p:nvPr/>
        </p:nvSpPr>
        <p:spPr>
          <a:xfrm>
            <a:off x="9646920" y="292608"/>
            <a:ext cx="2057400" cy="347472"/>
          </a:xfrm>
          <a:prstGeom prst="round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AMELIE</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Weighted distance decides who is kept</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Distance is a sum of penalties. A larger penalty means that factor must match.</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 race mismatch costs 10. A gender mismatch costs 1.5. Thirty years of age costs 1.</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 party mismatch costs 1.5. A registration mismatch costs up to 4. Income is allowed to be off.</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kept sample is forced to look like the target on those factors. The formula is in the 2008 study guide.</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Our code does not recompute it. The released file already contains the finished weight, V201.</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2F553A"/>
                </a:solidFill>
                <a:latin typeface="Calibri"/>
              </a:rPr>
              <a:t>QUESTION 4  ·  AMELIE</a:t>
            </a:r>
          </a:p>
        </p:txBody>
      </p:sp>
      <p:sp>
        <p:nvSpPr>
          <p:cNvPr id="5" name="Rounded Rectangle 4"/>
          <p:cNvSpPr/>
          <p:nvPr/>
        </p:nvSpPr>
        <p:spPr>
          <a:xfrm>
            <a:off x="9646920" y="292608"/>
            <a:ext cx="2057400" cy="347472"/>
          </a:xfrm>
          <a:prstGeom prst="round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AMELIE</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Propensity weights, then a rescaling</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Matching is close, not exact. A logistic regression estimates the chance a row came from the target frame.</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In 2008 that model uses age, education, gender, and turnout. The fitted probability is the propensity score.</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People who are too common in the internet sample are down-weighted. Weights above 7 are cut to 7.</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Dividing all weights by the same constant does not change a slope or a percentage.</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They are rescaled to sum to the sample size so the average weight is 1. A 2 counts as two interviews.</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2F553A"/>
                </a:solidFill>
                <a:latin typeface="Calibri"/>
              </a:rPr>
              <a:t>QUESTION 4  ·  AMELIE</a:t>
            </a:r>
          </a:p>
        </p:txBody>
      </p:sp>
      <p:sp>
        <p:nvSpPr>
          <p:cNvPr id="5" name="Rounded Rectangle 4"/>
          <p:cNvSpPr/>
          <p:nvPr/>
        </p:nvSpPr>
        <p:spPr>
          <a:xfrm>
            <a:off x="9646920" y="292608"/>
            <a:ext cx="2057400" cy="347472"/>
          </a:xfrm>
          <a:prstGeom prst="roundRect">
            <a:avLst/>
          </a:prstGeom>
          <a:solidFill>
            <a:srgbClr val="2F5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AMELIE</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A covariate is a predictor we hold still</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equation is: vote = intercept + party + age/10 + race indicators + other demographics.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Holding age and race fixed, the party coefficient is the party–vote link among similar people.</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ANES extract has no gender, education, income, or home ownership.</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fair comparison uses the shared list: party, age, Black, Hispanic, and other race.</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number in parentheses later is the standard error, the noise around the estimate.</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274320"/>
          </a:xfrm>
          <a:prstGeom prst="rect">
            <a:avLst/>
          </a:prstGeom>
          <a:noFill/>
        </p:spPr>
        <p:txBody>
          <a:bodyPr wrap="square" lIns="0" rIns="0" tIns="0" bIns="0" anchor="t"/>
          <a:lstStyle/>
          <a:p>
            <a:pPr algn="l">
              <a:spcBef>
                <a:spcPts val="0"/>
              </a:spcBef>
              <a:spcAft>
                <a:spcPts val="0"/>
              </a:spcAft>
            </a:pPr>
            <a:r>
              <a:rPr sz="1300" b="1" i="0">
                <a:solidFill>
                  <a:srgbClr val="8A4528"/>
                </a:solidFill>
                <a:latin typeface="Calibri"/>
              </a:rPr>
              <a:t>QUESTION 5  ·  ERIC</a:t>
            </a:r>
          </a:p>
        </p:txBody>
      </p:sp>
      <p:sp>
        <p:nvSpPr>
          <p:cNvPr id="5" name="Rounded Rectangle 4"/>
          <p:cNvSpPr/>
          <p:nvPr/>
        </p:nvSpPr>
        <p:spPr>
          <a:xfrm>
            <a:off x="9646920" y="292608"/>
            <a:ext cx="2057400" cy="347472"/>
          </a:xfrm>
          <a:prstGeom prst="round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ERIC</a:t>
            </a:r>
          </a:p>
        </p:txBody>
      </p:sp>
      <p:sp>
        <p:nvSpPr>
          <p:cNvPr id="7" name="TextBox 6"/>
          <p:cNvSpPr txBox="1"/>
          <p:nvPr/>
        </p:nvSpPr>
        <p:spPr>
          <a:xfrm>
            <a:off x="502920" y="713232"/>
            <a:ext cx="10972800" cy="64008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The party slopes are the same</a:t>
            </a:r>
          </a:p>
        </p:txBody>
      </p:sp>
      <p:sp>
        <p:nvSpPr>
          <p:cNvPr id="8" name="TextBox 7"/>
          <p:cNvSpPr txBox="1"/>
          <p:nvPr/>
        </p:nvSpPr>
        <p:spPr>
          <a:xfrm>
            <a:off x="502920" y="1417320"/>
            <a:ext cx="10972800" cy="320040"/>
          </a:xfrm>
          <a:prstGeom prst="rect">
            <a:avLst/>
          </a:prstGeom>
          <a:noFill/>
        </p:spPr>
        <p:txBody>
          <a:bodyPr wrap="square" lIns="0" rIns="0" tIns="0" bIns="0" anchor="t"/>
          <a:lstStyle/>
          <a:p>
            <a:pPr algn="l">
              <a:spcBef>
                <a:spcPts val="0"/>
              </a:spcBef>
              <a:spcAft>
                <a:spcPts val="0"/>
              </a:spcAft>
            </a:pPr>
            <a:r>
              <a:rPr sz="1600" b="0" i="1">
                <a:solidFill>
                  <a:srgbClr val="5E6872"/>
                </a:solidFill>
                <a:latin typeface="Calibri"/>
              </a:rPr>
              <a:t>Shared covariates. Vote coded +1 Obama, −1 McCain, 0 other. Weighted least squares.</a:t>
            </a:r>
          </a:p>
        </p:txBody>
      </p:sp>
      <p:sp>
        <p:nvSpPr>
          <p:cNvPr id="9" name="Rectangle 8"/>
          <p:cNvSpPr/>
          <p:nvPr/>
        </p:nvSpPr>
        <p:spPr>
          <a:xfrm>
            <a:off x="502920" y="1965960"/>
            <a:ext cx="3566160" cy="28803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3566160" cy="9144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40280"/>
            <a:ext cx="3108960" cy="365760"/>
          </a:xfrm>
          <a:prstGeom prst="rect">
            <a:avLst/>
          </a:prstGeom>
          <a:noFill/>
        </p:spPr>
        <p:txBody>
          <a:bodyPr wrap="square" lIns="0" rIns="0" tIns="0" bIns="0" anchor="t"/>
          <a:lstStyle/>
          <a:p>
            <a:pPr algn="l">
              <a:spcBef>
                <a:spcPts val="0"/>
              </a:spcBef>
              <a:spcAft>
                <a:spcPts val="0"/>
              </a:spcAft>
            </a:pPr>
            <a:r>
              <a:rPr sz="1600" b="1" i="0">
                <a:solidFill>
                  <a:srgbClr val="5E6872"/>
                </a:solidFill>
                <a:latin typeface="Calibri"/>
              </a:rPr>
              <a:t>CCES</a:t>
            </a:r>
          </a:p>
        </p:txBody>
      </p:sp>
      <p:sp>
        <p:nvSpPr>
          <p:cNvPr id="12" name="TextBox 11"/>
          <p:cNvSpPr txBox="1"/>
          <p:nvPr/>
        </p:nvSpPr>
        <p:spPr>
          <a:xfrm>
            <a:off x="731520" y="2697480"/>
            <a:ext cx="3108960" cy="731520"/>
          </a:xfrm>
          <a:prstGeom prst="rect">
            <a:avLst/>
          </a:prstGeom>
          <a:noFill/>
        </p:spPr>
        <p:txBody>
          <a:bodyPr wrap="square" lIns="0" rIns="0" tIns="0" bIns="0" anchor="t"/>
          <a:lstStyle/>
          <a:p>
            <a:pPr algn="l">
              <a:spcBef>
                <a:spcPts val="0"/>
              </a:spcBef>
              <a:spcAft>
                <a:spcPts val="0"/>
              </a:spcAft>
            </a:pPr>
            <a:r>
              <a:rPr sz="3600" b="1" i="0">
                <a:solidFill>
                  <a:srgbClr val="1A222C"/>
                </a:solidFill>
                <a:latin typeface="Georgia"/>
              </a:rPr>
              <a:t>−0.317</a:t>
            </a:r>
          </a:p>
        </p:txBody>
      </p:sp>
      <p:sp>
        <p:nvSpPr>
          <p:cNvPr id="13" name="TextBox 12"/>
          <p:cNvSpPr txBox="1"/>
          <p:nvPr/>
        </p:nvSpPr>
        <p:spPr>
          <a:xfrm>
            <a:off x="731520" y="3566160"/>
            <a:ext cx="3108960" cy="365760"/>
          </a:xfrm>
          <a:prstGeom prst="rect">
            <a:avLst/>
          </a:prstGeom>
          <a:noFill/>
        </p:spPr>
        <p:txBody>
          <a:bodyPr wrap="square" lIns="0" rIns="0" tIns="0" bIns="0" anchor="t"/>
          <a:lstStyle/>
          <a:p>
            <a:pPr algn="l">
              <a:spcBef>
                <a:spcPts val="0"/>
              </a:spcBef>
              <a:spcAft>
                <a:spcPts val="0"/>
              </a:spcAft>
            </a:pPr>
            <a:r>
              <a:rPr sz="1600" b="0" i="0">
                <a:solidFill>
                  <a:srgbClr val="1A222C"/>
                </a:solidFill>
                <a:latin typeface="Calibri"/>
              </a:rPr>
              <a:t>standard error 0.002</a:t>
            </a:r>
          </a:p>
        </p:txBody>
      </p:sp>
      <p:sp>
        <p:nvSpPr>
          <p:cNvPr id="14" name="TextBox 13"/>
          <p:cNvSpPr txBox="1"/>
          <p:nvPr/>
        </p:nvSpPr>
        <p:spPr>
          <a:xfrm>
            <a:off x="731520" y="4023360"/>
            <a:ext cx="3108960" cy="365760"/>
          </a:xfrm>
          <a:prstGeom prst="rect">
            <a:avLst/>
          </a:prstGeom>
          <a:noFill/>
        </p:spPr>
        <p:txBody>
          <a:bodyPr wrap="square" lIns="0" rIns="0" tIns="0" bIns="0" anchor="t"/>
          <a:lstStyle/>
          <a:p>
            <a:pPr algn="l">
              <a:spcBef>
                <a:spcPts val="0"/>
              </a:spcBef>
              <a:spcAft>
                <a:spcPts val="0"/>
              </a:spcAft>
            </a:pPr>
            <a:r>
              <a:rPr sz="1600" b="0" i="0">
                <a:solidFill>
                  <a:srgbClr val="5E6872"/>
                </a:solidFill>
                <a:latin typeface="Calibri"/>
              </a:rPr>
              <a:t>N = 23,681</a:t>
            </a:r>
          </a:p>
        </p:txBody>
      </p:sp>
      <p:sp>
        <p:nvSpPr>
          <p:cNvPr id="15" name="Rectangle 14"/>
          <p:cNvSpPr/>
          <p:nvPr/>
        </p:nvSpPr>
        <p:spPr>
          <a:xfrm>
            <a:off x="4297680" y="1965960"/>
            <a:ext cx="3566160" cy="28803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965960"/>
            <a:ext cx="3566160" cy="9144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240280"/>
            <a:ext cx="3108960" cy="365760"/>
          </a:xfrm>
          <a:prstGeom prst="rect">
            <a:avLst/>
          </a:prstGeom>
          <a:noFill/>
        </p:spPr>
        <p:txBody>
          <a:bodyPr wrap="square" lIns="0" rIns="0" tIns="0" bIns="0" anchor="t"/>
          <a:lstStyle/>
          <a:p>
            <a:pPr algn="l">
              <a:spcBef>
                <a:spcPts val="0"/>
              </a:spcBef>
              <a:spcAft>
                <a:spcPts val="0"/>
              </a:spcAft>
            </a:pPr>
            <a:r>
              <a:rPr sz="1600" b="1" i="0">
                <a:solidFill>
                  <a:srgbClr val="5E6872"/>
                </a:solidFill>
                <a:latin typeface="Calibri"/>
              </a:rPr>
              <a:t>ANES</a:t>
            </a:r>
          </a:p>
        </p:txBody>
      </p:sp>
      <p:sp>
        <p:nvSpPr>
          <p:cNvPr id="18" name="TextBox 17"/>
          <p:cNvSpPr txBox="1"/>
          <p:nvPr/>
        </p:nvSpPr>
        <p:spPr>
          <a:xfrm>
            <a:off x="4526280" y="2697480"/>
            <a:ext cx="3108960" cy="731520"/>
          </a:xfrm>
          <a:prstGeom prst="rect">
            <a:avLst/>
          </a:prstGeom>
          <a:noFill/>
        </p:spPr>
        <p:txBody>
          <a:bodyPr wrap="square" lIns="0" rIns="0" tIns="0" bIns="0" anchor="t"/>
          <a:lstStyle/>
          <a:p>
            <a:pPr algn="l">
              <a:spcBef>
                <a:spcPts val="0"/>
              </a:spcBef>
              <a:spcAft>
                <a:spcPts val="0"/>
              </a:spcAft>
            </a:pPr>
            <a:r>
              <a:rPr sz="3600" b="1" i="0">
                <a:solidFill>
                  <a:srgbClr val="1A222C"/>
                </a:solidFill>
                <a:latin typeface="Georgia"/>
              </a:rPr>
              <a:t>−0.317</a:t>
            </a:r>
          </a:p>
        </p:txBody>
      </p:sp>
      <p:sp>
        <p:nvSpPr>
          <p:cNvPr id="19" name="TextBox 18"/>
          <p:cNvSpPr txBox="1"/>
          <p:nvPr/>
        </p:nvSpPr>
        <p:spPr>
          <a:xfrm>
            <a:off x="4526280" y="3566160"/>
            <a:ext cx="3108960" cy="365760"/>
          </a:xfrm>
          <a:prstGeom prst="rect">
            <a:avLst/>
          </a:prstGeom>
          <a:noFill/>
        </p:spPr>
        <p:txBody>
          <a:bodyPr wrap="square" lIns="0" rIns="0" tIns="0" bIns="0" anchor="t"/>
          <a:lstStyle/>
          <a:p>
            <a:pPr algn="l">
              <a:spcBef>
                <a:spcPts val="0"/>
              </a:spcBef>
              <a:spcAft>
                <a:spcPts val="0"/>
              </a:spcAft>
            </a:pPr>
            <a:r>
              <a:rPr sz="1600" b="0" i="0">
                <a:solidFill>
                  <a:srgbClr val="1A222C"/>
                </a:solidFill>
                <a:latin typeface="Calibri"/>
              </a:rPr>
              <a:t>standard error 0.010</a:t>
            </a:r>
          </a:p>
        </p:txBody>
      </p:sp>
      <p:sp>
        <p:nvSpPr>
          <p:cNvPr id="20" name="TextBox 19"/>
          <p:cNvSpPr txBox="1"/>
          <p:nvPr/>
        </p:nvSpPr>
        <p:spPr>
          <a:xfrm>
            <a:off x="4526280" y="4023360"/>
            <a:ext cx="3108960" cy="365760"/>
          </a:xfrm>
          <a:prstGeom prst="rect">
            <a:avLst/>
          </a:prstGeom>
          <a:noFill/>
        </p:spPr>
        <p:txBody>
          <a:bodyPr wrap="square" lIns="0" rIns="0" tIns="0" bIns="0" anchor="t"/>
          <a:lstStyle/>
          <a:p>
            <a:pPr algn="l">
              <a:spcBef>
                <a:spcPts val="0"/>
              </a:spcBef>
              <a:spcAft>
                <a:spcPts val="0"/>
              </a:spcAft>
            </a:pPr>
            <a:r>
              <a:rPr sz="1600" b="0" i="0">
                <a:solidFill>
                  <a:srgbClr val="5E6872"/>
                </a:solidFill>
                <a:latin typeface="Calibri"/>
              </a:rPr>
              <a:t>N = 1,538</a:t>
            </a:r>
          </a:p>
        </p:txBody>
      </p:sp>
      <p:sp>
        <p:nvSpPr>
          <p:cNvPr id="21" name="Rectangle 20"/>
          <p:cNvSpPr/>
          <p:nvPr/>
        </p:nvSpPr>
        <p:spPr>
          <a:xfrm>
            <a:off x="8092440" y="1965960"/>
            <a:ext cx="3566160" cy="28803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1965960"/>
            <a:ext cx="3566160" cy="9144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240280"/>
            <a:ext cx="3108960" cy="365760"/>
          </a:xfrm>
          <a:prstGeom prst="rect">
            <a:avLst/>
          </a:prstGeom>
          <a:noFill/>
        </p:spPr>
        <p:txBody>
          <a:bodyPr wrap="square" lIns="0" rIns="0" tIns="0" bIns="0" anchor="t"/>
          <a:lstStyle/>
          <a:p>
            <a:pPr algn="l">
              <a:spcBef>
                <a:spcPts val="0"/>
              </a:spcBef>
              <a:spcAft>
                <a:spcPts val="0"/>
              </a:spcAft>
            </a:pPr>
            <a:r>
              <a:rPr sz="1600" b="1" i="0">
                <a:solidFill>
                  <a:srgbClr val="5E6872"/>
                </a:solidFill>
                <a:latin typeface="Calibri"/>
              </a:rPr>
              <a:t>Article</a:t>
            </a:r>
          </a:p>
        </p:txBody>
      </p:sp>
      <p:sp>
        <p:nvSpPr>
          <p:cNvPr id="24" name="TextBox 23"/>
          <p:cNvSpPr txBox="1"/>
          <p:nvPr/>
        </p:nvSpPr>
        <p:spPr>
          <a:xfrm>
            <a:off x="8321040" y="2697480"/>
            <a:ext cx="3108960" cy="731520"/>
          </a:xfrm>
          <a:prstGeom prst="rect">
            <a:avLst/>
          </a:prstGeom>
          <a:noFill/>
        </p:spPr>
        <p:txBody>
          <a:bodyPr wrap="square" lIns="0" rIns="0" tIns="0" bIns="0" anchor="t"/>
          <a:lstStyle/>
          <a:p>
            <a:pPr algn="l">
              <a:spcBef>
                <a:spcPts val="0"/>
              </a:spcBef>
              <a:spcAft>
                <a:spcPts val="0"/>
              </a:spcAft>
            </a:pPr>
            <a:r>
              <a:rPr sz="3600" b="1" i="0">
                <a:solidFill>
                  <a:srgbClr val="1A222C"/>
                </a:solidFill>
                <a:latin typeface="Georgia"/>
              </a:rPr>
              <a:t>−0.313</a:t>
            </a:r>
          </a:p>
        </p:txBody>
      </p:sp>
      <p:sp>
        <p:nvSpPr>
          <p:cNvPr id="25" name="TextBox 24"/>
          <p:cNvSpPr txBox="1"/>
          <p:nvPr/>
        </p:nvSpPr>
        <p:spPr>
          <a:xfrm>
            <a:off x="8321040" y="3566160"/>
            <a:ext cx="3108960" cy="365760"/>
          </a:xfrm>
          <a:prstGeom prst="rect">
            <a:avLst/>
          </a:prstGeom>
          <a:noFill/>
        </p:spPr>
        <p:txBody>
          <a:bodyPr wrap="square" lIns="0" rIns="0" tIns="0" bIns="0" anchor="t"/>
          <a:lstStyle/>
          <a:p>
            <a:pPr algn="l">
              <a:spcBef>
                <a:spcPts val="0"/>
              </a:spcBef>
              <a:spcAft>
                <a:spcPts val="0"/>
              </a:spcAft>
            </a:pPr>
            <a:r>
              <a:rPr sz="1600" b="0" i="0">
                <a:solidFill>
                  <a:srgbClr val="1A222C"/>
                </a:solidFill>
                <a:latin typeface="Calibri"/>
              </a:rPr>
              <a:t>CCES in the published table</a:t>
            </a:r>
          </a:p>
        </p:txBody>
      </p:sp>
      <p:sp>
        <p:nvSpPr>
          <p:cNvPr id="26" name="TextBox 25"/>
          <p:cNvSpPr txBox="1"/>
          <p:nvPr/>
        </p:nvSpPr>
        <p:spPr>
          <a:xfrm>
            <a:off x="8321040" y="4023360"/>
            <a:ext cx="3108960" cy="365760"/>
          </a:xfrm>
          <a:prstGeom prst="rect">
            <a:avLst/>
          </a:prstGeom>
          <a:noFill/>
        </p:spPr>
        <p:txBody>
          <a:bodyPr wrap="square" lIns="0" rIns="0" tIns="0" bIns="0" anchor="t"/>
          <a:lstStyle/>
          <a:p>
            <a:pPr algn="l">
              <a:spcBef>
                <a:spcPts val="0"/>
              </a:spcBef>
              <a:spcAft>
                <a:spcPts val="0"/>
              </a:spcAft>
            </a:pPr>
            <a:r>
              <a:rPr sz="1600" b="0" i="0">
                <a:solidFill>
                  <a:srgbClr val="5E6872"/>
                </a:solidFill>
                <a:latin typeface="Calibri"/>
              </a:rPr>
              <a:t>ANES published −0.312</a:t>
            </a:r>
          </a:p>
        </p:txBody>
      </p:sp>
      <p:sp>
        <p:nvSpPr>
          <p:cNvPr id="27" name="TextBox 26"/>
          <p:cNvSpPr txBox="1"/>
          <p:nvPr/>
        </p:nvSpPr>
        <p:spPr>
          <a:xfrm>
            <a:off x="502920" y="5074920"/>
            <a:ext cx="11155680" cy="4114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One step toward Republican moves the vote about a third of the way from Obama toward McCain.</a:t>
            </a:r>
          </a:p>
        </p:txBody>
      </p:sp>
      <p:sp>
        <p:nvSpPr>
          <p:cNvPr id="28" name="TextBox 27"/>
          <p:cNvSpPr txBox="1"/>
          <p:nvPr/>
        </p:nvSpPr>
        <p:spPr>
          <a:xfrm>
            <a:off x="502920" y="5623560"/>
            <a:ext cx="11155680" cy="365760"/>
          </a:xfrm>
          <a:prstGeom prst="rect">
            <a:avLst/>
          </a:prstGeom>
          <a:noFill/>
        </p:spPr>
        <p:txBody>
          <a:bodyPr wrap="square" lIns="0" rIns="0" tIns="0" bIns="0" anchor="t"/>
          <a:lstStyle/>
          <a:p>
            <a:pPr algn="l">
              <a:spcBef>
                <a:spcPts val="0"/>
              </a:spcBef>
              <a:spcAft>
                <a:spcPts val="0"/>
              </a:spcAft>
            </a:pPr>
            <a:r>
              <a:rPr sz="1800" b="0" i="0">
                <a:solidFill>
                  <a:srgbClr val="5E6872"/>
                </a:solidFill>
                <a:latin typeface="Calibri"/>
              </a:rPr>
              <a:t>The CCES estimate is more precise because that sample is about fifteen times larger.</a:t>
            </a:r>
          </a:p>
        </p:txBody>
      </p:sp>
      <p:sp>
        <p:nvSpPr>
          <p:cNvPr id="29" name="TextBox 28"/>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30" name="TextBox 29"/>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8A4528"/>
                </a:solidFill>
                <a:latin typeface="Calibri"/>
              </a:rPr>
              <a:t>QUESTION 5  ·  ERIC</a:t>
            </a:r>
          </a:p>
        </p:txBody>
      </p:sp>
      <p:sp>
        <p:nvSpPr>
          <p:cNvPr id="5" name="Rounded Rectangle 4"/>
          <p:cNvSpPr/>
          <p:nvPr/>
        </p:nvSpPr>
        <p:spPr>
          <a:xfrm>
            <a:off x="9646920" y="292608"/>
            <a:ext cx="2057400" cy="347472"/>
          </a:xfrm>
          <a:prstGeom prst="round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ERIC</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The other slopes, and the weights</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Age, per 10 years: CCES −0.040, ANES −0.050. Black: +0.260 versus +0.325.</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Hispanic: CCES +0.063, ANES +0.159. This is the subgroup the article already flags.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Full CCES model, party −0.314. The published coefficient is −0.313.</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Weights off, the CCES party slope moves only to −0.320. The relationship is already in the interviews.</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Weights off, the ANES party slope moves to −0.293. Weights matter more in the smaller sample.</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8A4528"/>
                </a:solidFill>
                <a:latin typeface="Calibri"/>
              </a:rPr>
              <a:t>QUESTION 5  ·  ERIC</a:t>
            </a:r>
          </a:p>
        </p:txBody>
      </p:sp>
      <p:sp>
        <p:nvSpPr>
          <p:cNvPr id="5" name="Rounded Rectangle 4"/>
          <p:cNvSpPr/>
          <p:nvPr/>
        </p:nvSpPr>
        <p:spPr>
          <a:xfrm>
            <a:off x="9646920" y="292608"/>
            <a:ext cx="2057400" cy="347472"/>
          </a:xfrm>
          <a:prstGeom prst="round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ERIC</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Vote shares and the states</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Two-party Obama share: CCES 53.9 percent, ANES 54.9 percent.</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CCES Hispanic voters: 65.8 percent Obama. ANES Latino voters: 77 percent. The exit poll was near 67.</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Across 50 states, CCES minus the official Democratic share averages +1.0 points. RMSE is 3.4.</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article reports +0.27 and 2.43. Same direction, same order of magnitude, not the same digits.</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This is the softer check. The party slopes are the result that lines up exactly.</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8A4528"/>
                </a:solidFill>
                <a:latin typeface="Calibri"/>
              </a:rPr>
              <a:t>QUESTION 5  ·  ERIC</a:t>
            </a:r>
          </a:p>
        </p:txBody>
      </p:sp>
      <p:sp>
        <p:nvSpPr>
          <p:cNvPr id="5" name="Rounded Rectangle 4"/>
          <p:cNvSpPr/>
          <p:nvPr/>
        </p:nvSpPr>
        <p:spPr>
          <a:xfrm>
            <a:off x="9646920" y="292608"/>
            <a:ext cx="2057400" cy="347472"/>
          </a:xfrm>
          <a:prstGeom prst="roundRect">
            <a:avLst/>
          </a:prstGeom>
          <a:solidFill>
            <a:srgbClr val="8A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ERIC</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Beyond the article, same respondents</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These extensions are ours. They are not results from the 2013 article.</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Party slopes down the ballot stay near −0.3: House −0.298, Senate −0.306, governor −0.289.</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Adding ideology and three issue items cuts the presidential party slope from −0.314 to −0.170.</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More informed respondents are slightly more partisan, not less. The difference is about 0.02 to 0.03.</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3C3868"/>
                </a:solidFill>
                <a:latin typeface="Calibri"/>
              </a:rPr>
              <a:t>QUESTION 6  ·  RAHEL</a:t>
            </a:r>
          </a:p>
        </p:txBody>
      </p:sp>
      <p:sp>
        <p:nvSpPr>
          <p:cNvPr id="5" name="Rounded Rectangle 4"/>
          <p:cNvSpPr/>
          <p:nvPr/>
        </p:nvSpPr>
        <p:spPr>
          <a:xfrm>
            <a:off x="9646920" y="292608"/>
            <a:ext cx="2057400" cy="347472"/>
          </a:xfrm>
          <a:prstGeom prst="round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RAHEL</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The article’s conclusion</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A matched, weighted cooperative internet sample can recover the ANES electoral relationships.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In the published table the party slopes agree to the third decimal: −0.313 and −0.312.</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State estimates miss by a few points, which is what a sample of that size should do.</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Teams can share one large survey and study states, districts, and groups the ANES cannot resolve.</a:t>
            </a:r>
          </a:p>
        </p:txBody>
      </p:sp>
      <p:sp>
        <p:nvSpPr>
          <p:cNvPr id="12" name="TextBox 11"/>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3" name="TextBox 12"/>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686800" cy="292608"/>
          </a:xfrm>
          <a:prstGeom prst="rect">
            <a:avLst/>
          </a:prstGeom>
          <a:noFill/>
        </p:spPr>
        <p:txBody>
          <a:bodyPr wrap="square" lIns="0" rIns="0" tIns="0" bIns="0" anchor="t"/>
          <a:lstStyle/>
          <a:p>
            <a:pPr algn="l">
              <a:spcBef>
                <a:spcPts val="0"/>
              </a:spcBef>
              <a:spcAft>
                <a:spcPts val="0"/>
              </a:spcAft>
            </a:pPr>
            <a:r>
              <a:rPr sz="1300" b="1" i="0">
                <a:solidFill>
                  <a:srgbClr val="3C3868"/>
                </a:solidFill>
                <a:latin typeface="Calibri"/>
              </a:rPr>
              <a:t>QUESTION 6  ·  RAHEL</a:t>
            </a:r>
          </a:p>
        </p:txBody>
      </p:sp>
      <p:sp>
        <p:nvSpPr>
          <p:cNvPr id="5" name="Rounded Rectangle 4"/>
          <p:cNvSpPr/>
          <p:nvPr/>
        </p:nvSpPr>
        <p:spPr>
          <a:xfrm>
            <a:off x="9646920" y="292608"/>
            <a:ext cx="2057400" cy="347472"/>
          </a:xfrm>
          <a:prstGeom prst="round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329184"/>
            <a:ext cx="2057400" cy="274320"/>
          </a:xfrm>
          <a:prstGeom prst="rect">
            <a:avLst/>
          </a:prstGeom>
          <a:noFill/>
        </p:spPr>
        <p:txBody>
          <a:bodyPr wrap="square" lIns="0" rIns="0" tIns="0" bIns="0" anchor="t"/>
          <a:lstStyle/>
          <a:p>
            <a:pPr algn="ctr">
              <a:spcBef>
                <a:spcPts val="0"/>
              </a:spcBef>
              <a:spcAft>
                <a:spcPts val="0"/>
              </a:spcAft>
            </a:pPr>
            <a:r>
              <a:rPr sz="1200" b="1" i="0">
                <a:solidFill>
                  <a:srgbClr val="FFFFFF"/>
                </a:solidFill>
                <a:latin typeface="Calibri"/>
              </a:rPr>
              <a:t>RAHEL</a:t>
            </a:r>
          </a:p>
        </p:txBody>
      </p:sp>
      <p:sp>
        <p:nvSpPr>
          <p:cNvPr id="7" name="TextBox 6"/>
          <p:cNvSpPr txBox="1"/>
          <p:nvPr/>
        </p:nvSpPr>
        <p:spPr>
          <a:xfrm>
            <a:off x="502920" y="777240"/>
            <a:ext cx="11155680" cy="822960"/>
          </a:xfrm>
          <a:prstGeom prst="rect">
            <a:avLst/>
          </a:prstGeom>
          <a:noFill/>
        </p:spPr>
        <p:txBody>
          <a:bodyPr wrap="square" lIns="0" rIns="0" tIns="0" bIns="0" anchor="t"/>
          <a:lstStyle/>
          <a:p>
            <a:pPr algn="l">
              <a:spcBef>
                <a:spcPts val="0"/>
              </a:spcBef>
              <a:spcAft>
                <a:spcPts val="0"/>
              </a:spcAft>
            </a:pPr>
            <a:r>
              <a:rPr sz="3200" b="1" i="0">
                <a:solidFill>
                  <a:srgbClr val="1A222C"/>
                </a:solidFill>
                <a:latin typeface="Georgia"/>
              </a:rPr>
              <a:t>What that conclusion depends on</a:t>
            </a:r>
          </a:p>
        </p:txBody>
      </p:sp>
      <p:sp>
        <p:nvSpPr>
          <p:cNvPr id="8" name="TextBox 7"/>
          <p:cNvSpPr txBox="1"/>
          <p:nvPr/>
        </p:nvSpPr>
        <p:spPr>
          <a:xfrm>
            <a:off x="502920" y="1737360"/>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raw volunteer panel is still skewed. Matching and weighting produce the representativeness.</a:t>
            </a:r>
          </a:p>
        </p:txBody>
      </p:sp>
      <p:sp>
        <p:nvSpPr>
          <p:cNvPr id="9" name="TextBox 8"/>
          <p:cNvSpPr txBox="1"/>
          <p:nvPr/>
        </p:nvSpPr>
        <p:spPr>
          <a:xfrm>
            <a:off x="502920" y="2414015"/>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The claim covers outcomes tied to the matching variables. A bias outside those variables remains.</a:t>
            </a:r>
          </a:p>
        </p:txBody>
      </p:sp>
      <p:sp>
        <p:nvSpPr>
          <p:cNvPr id="10" name="TextBox 9"/>
          <p:cNvSpPr txBox="1"/>
          <p:nvPr/>
        </p:nvSpPr>
        <p:spPr>
          <a:xfrm>
            <a:off x="502920" y="3090672"/>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Rivers helped build the firm that fielded the survey. The article discloses that.</a:t>
            </a:r>
          </a:p>
        </p:txBody>
      </p:sp>
      <p:sp>
        <p:nvSpPr>
          <p:cNvPr id="11" name="TextBox 10"/>
          <p:cNvSpPr txBox="1"/>
          <p:nvPr/>
        </p:nvSpPr>
        <p:spPr>
          <a:xfrm>
            <a:off x="502920" y="3767328"/>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Our replication reproduces the party result. The state error agrees in size, not to the published decimal.</a:t>
            </a:r>
          </a:p>
        </p:txBody>
      </p:sp>
      <p:sp>
        <p:nvSpPr>
          <p:cNvPr id="12" name="TextBox 11"/>
          <p:cNvSpPr txBox="1"/>
          <p:nvPr/>
        </p:nvSpPr>
        <p:spPr>
          <a:xfrm>
            <a:off x="502920" y="4443984"/>
            <a:ext cx="11155680" cy="640080"/>
          </a:xfrm>
          <a:prstGeom prst="rect">
            <a:avLst/>
          </a:prstGeom>
          <a:noFill/>
        </p:spPr>
        <p:txBody>
          <a:bodyPr wrap="square" lIns="0" rIns="0" tIns="0" bIns="0" anchor="t"/>
          <a:lstStyle/>
          <a:p>
            <a:pPr algn="l">
              <a:spcBef>
                <a:spcPts val="0"/>
              </a:spcBef>
              <a:spcAft>
                <a:spcPts val="0"/>
              </a:spcAft>
            </a:pPr>
            <a:r>
              <a:rPr sz="2000" b="0" i="0">
                <a:solidFill>
                  <a:srgbClr val="1A222C"/>
                </a:solidFill>
                <a:latin typeface="Calibri"/>
              </a:rPr>
              <a:t>Both claims are about YouGov’s processed sample of 32,800, not about every person who clicked an ad.</a:t>
            </a:r>
          </a:p>
        </p:txBody>
      </p:sp>
      <p:sp>
        <p:nvSpPr>
          <p:cNvPr id="13" name="TextBox 12"/>
          <p:cNvSpPr txBox="1"/>
          <p:nvPr/>
        </p:nvSpPr>
        <p:spPr>
          <a:xfrm>
            <a:off x="502920" y="6510528"/>
            <a:ext cx="8229600" cy="256032"/>
          </a:xfrm>
          <a:prstGeom prst="rect">
            <a:avLst/>
          </a:prstGeom>
          <a:noFill/>
        </p:spPr>
        <p:txBody>
          <a:bodyPr wrap="square" lIns="0" rIns="0" tIns="0" bIns="0" anchor="t"/>
          <a:lstStyle/>
          <a:p>
            <a:pPr algn="l">
              <a:spcBef>
                <a:spcPts val="0"/>
              </a:spcBef>
              <a:spcAft>
                <a:spcPts val="0"/>
              </a:spcAft>
            </a:pPr>
            <a:r>
              <a:rPr sz="1100" b="0" i="0">
                <a:solidFill>
                  <a:srgbClr val="5E6872"/>
                </a:solidFill>
                <a:latin typeface="Calibri"/>
              </a:rPr>
              <a:t>Ansolabehere &amp; Rivers 2013  ·  2008 CCES and ANES</a:t>
            </a:r>
          </a:p>
        </p:txBody>
      </p:sp>
      <p:sp>
        <p:nvSpPr>
          <p:cNvPr id="14" name="TextBox 13"/>
          <p:cNvSpPr txBox="1"/>
          <p:nvPr/>
        </p:nvSpPr>
        <p:spPr>
          <a:xfrm>
            <a:off x="10241280" y="6510528"/>
            <a:ext cx="1463040" cy="256032"/>
          </a:xfrm>
          <a:prstGeom prst="rect">
            <a:avLst/>
          </a:prstGeom>
          <a:noFill/>
        </p:spPr>
        <p:txBody>
          <a:bodyPr wrap="square" lIns="0" rIns="0" tIns="0" bIns="0" anchor="t"/>
          <a:lstStyle/>
          <a:p>
            <a:pPr algn="r">
              <a:spcBef>
                <a:spcPts val="0"/>
              </a:spcBef>
              <a:spcAft>
                <a:spcPts val="0"/>
              </a:spcAft>
            </a:pPr>
            <a:r>
              <a:rPr sz="1100" b="0" i="0">
                <a:solidFill>
                  <a:srgbClr val="5E6872"/>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C3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058400" cy="274320"/>
          </a:xfrm>
          <a:prstGeom prst="rect">
            <a:avLst/>
          </a:prstGeom>
          <a:noFill/>
        </p:spPr>
        <p:txBody>
          <a:bodyPr wrap="square" lIns="0" rIns="0" tIns="0" bIns="0" anchor="t"/>
          <a:lstStyle/>
          <a:p>
            <a:pPr algn="l">
              <a:spcBef>
                <a:spcPts val="0"/>
              </a:spcBef>
              <a:spcAft>
                <a:spcPts val="0"/>
              </a:spcAft>
            </a:pPr>
            <a:r>
              <a:rPr sz="1400" b="1" i="0">
                <a:solidFill>
                  <a:srgbClr val="3C3868"/>
                </a:solidFill>
                <a:latin typeface="Calibri"/>
              </a:rPr>
              <a:t>RAHEL  ·  CLOSE</a:t>
            </a:r>
          </a:p>
        </p:txBody>
      </p:sp>
      <p:sp>
        <p:nvSpPr>
          <p:cNvPr id="5" name="TextBox 4"/>
          <p:cNvSpPr txBox="1"/>
          <p:nvPr/>
        </p:nvSpPr>
        <p:spPr>
          <a:xfrm>
            <a:off x="640080" y="1965960"/>
            <a:ext cx="10972800" cy="1463040"/>
          </a:xfrm>
          <a:prstGeom prst="rect">
            <a:avLst/>
          </a:prstGeom>
          <a:noFill/>
        </p:spPr>
        <p:txBody>
          <a:bodyPr wrap="square" lIns="0" rIns="0" tIns="0" bIns="0" anchor="t"/>
          <a:lstStyle/>
          <a:p>
            <a:pPr algn="l">
              <a:spcBef>
                <a:spcPts val="0"/>
              </a:spcBef>
              <a:spcAft>
                <a:spcPts val="0"/>
              </a:spcAft>
            </a:pPr>
            <a:r>
              <a:rPr sz="3600" b="1" i="0">
                <a:solidFill>
                  <a:srgbClr val="1A222C"/>
                </a:solidFill>
                <a:latin typeface="Georgia"/>
              </a:rPr>
              <a:t>The matched CCES and the ANES
give the same answer.</a:t>
            </a:r>
          </a:p>
        </p:txBody>
      </p:sp>
      <p:sp>
        <p:nvSpPr>
          <p:cNvPr id="6" name="TextBox 5"/>
          <p:cNvSpPr txBox="1"/>
          <p:nvPr/>
        </p:nvSpPr>
        <p:spPr>
          <a:xfrm>
            <a:off x="640080" y="3794760"/>
            <a:ext cx="10515600" cy="822960"/>
          </a:xfrm>
          <a:prstGeom prst="rect">
            <a:avLst/>
          </a:prstGeom>
          <a:noFill/>
        </p:spPr>
        <p:txBody>
          <a:bodyPr wrap="square" lIns="0" rIns="0" tIns="0" bIns="0" anchor="t"/>
          <a:lstStyle/>
          <a:p>
            <a:pPr algn="l">
              <a:spcBef>
                <a:spcPts val="0"/>
              </a:spcBef>
              <a:spcAft>
                <a:spcPts val="0"/>
              </a:spcAft>
            </a:pPr>
            <a:r>
              <a:rPr sz="2200" b="0" i="0">
                <a:solidFill>
                  <a:srgbClr val="5E6872"/>
                </a:solidFill>
                <a:latin typeface="Calibri"/>
              </a:rPr>
              <a:t>One step toward Republican moves the 2008 vote score by −0.32
in the volunteer survey and in the probability survey.</a:t>
            </a:r>
          </a:p>
        </p:txBody>
      </p:sp>
      <p:sp>
        <p:nvSpPr>
          <p:cNvPr id="7" name="TextBox 6"/>
          <p:cNvSpPr txBox="1"/>
          <p:nvPr/>
        </p:nvSpPr>
        <p:spPr>
          <a:xfrm>
            <a:off x="640080" y="5303520"/>
            <a:ext cx="10058400" cy="365760"/>
          </a:xfrm>
          <a:prstGeom prst="rect">
            <a:avLst/>
          </a:prstGeom>
          <a:noFill/>
        </p:spPr>
        <p:txBody>
          <a:bodyPr wrap="square" lIns="0" rIns="0" tIns="0" bIns="0" anchor="t"/>
          <a:lstStyle/>
          <a:p>
            <a:pPr algn="l">
              <a:spcBef>
                <a:spcPts val="0"/>
              </a:spcBef>
              <a:spcAft>
                <a:spcPts val="0"/>
              </a:spcAft>
            </a:pPr>
            <a:r>
              <a:rPr sz="1600" b="0" i="0">
                <a:solidFill>
                  <a:srgbClr val="1A222C"/>
                </a:solidFill>
                <a:latin typeface="Calibri"/>
              </a:rPr>
              <a:t>Abdullah   ·   Amelie   ·   Eric   ·   Rahel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Cooperative Survey Research: CCES and the ANES</dc:title>
  <dc:subject/>
  <dc:creator>Abdullah, Amelie, Eric, Rahel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